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2"/>
  </p:notesMasterIdLst>
  <p:handoutMasterIdLst>
    <p:handoutMasterId r:id="rId23"/>
  </p:handoutMasterIdLst>
  <p:sldIdLst>
    <p:sldId id="338" r:id="rId5"/>
    <p:sldId id="347" r:id="rId6"/>
    <p:sldId id="327" r:id="rId7"/>
    <p:sldId id="315" r:id="rId8"/>
    <p:sldId id="302" r:id="rId9"/>
    <p:sldId id="348" r:id="rId10"/>
    <p:sldId id="339" r:id="rId11"/>
    <p:sldId id="340" r:id="rId12"/>
    <p:sldId id="344" r:id="rId13"/>
    <p:sldId id="345" r:id="rId14"/>
    <p:sldId id="346" r:id="rId15"/>
    <p:sldId id="349" r:id="rId16"/>
    <p:sldId id="350" r:id="rId17"/>
    <p:sldId id="351" r:id="rId18"/>
    <p:sldId id="341" r:id="rId19"/>
    <p:sldId id="342" r:id="rId20"/>
    <p:sldId id="30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723FF7-715E-4DC5-9618-91E84AAB15A8}" v="4" dt="2026-09-10T03:03:58.707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ba Rwt" userId="62dbc0f0e2ff0745" providerId="LiveId" clId="{CBABF31E-6A22-4EF3-A9ED-877AE2CC3D55}"/>
    <pc:docChg chg="modSld">
      <pc:chgData name="Shoba Rwt" userId="62dbc0f0e2ff0745" providerId="LiveId" clId="{CBABF31E-6A22-4EF3-A9ED-877AE2CC3D55}" dt="2026-09-10T03:03:58.707" v="5"/>
      <pc:docMkLst>
        <pc:docMk/>
      </pc:docMkLst>
      <pc:sldChg chg="addSp delSp modSp">
        <pc:chgData name="Shoba Rwt" userId="62dbc0f0e2ff0745" providerId="LiveId" clId="{CBABF31E-6A22-4EF3-A9ED-877AE2CC3D55}" dt="2026-09-10T03:01:12.017" v="3"/>
        <pc:sldMkLst>
          <pc:docMk/>
          <pc:sldMk cId="2087579128" sldId="349"/>
        </pc:sldMkLst>
        <pc:spChg chg="add del mod">
          <ac:chgData name="Shoba Rwt" userId="62dbc0f0e2ff0745" providerId="LiveId" clId="{CBABF31E-6A22-4EF3-A9ED-877AE2CC3D55}" dt="2026-09-10T02:59:47.967" v="1"/>
          <ac:spMkLst>
            <pc:docMk/>
            <pc:sldMk cId="2087579128" sldId="349"/>
            <ac:spMk id="7" creationId="{19EB37A4-3EF0-32A4-D830-8292D9DD40D0}"/>
          </ac:spMkLst>
        </pc:spChg>
        <pc:spChg chg="add del mod">
          <ac:chgData name="Shoba Rwt" userId="62dbc0f0e2ff0745" providerId="LiveId" clId="{CBABF31E-6A22-4EF3-A9ED-877AE2CC3D55}" dt="2026-09-10T03:01:12.017" v="3"/>
          <ac:spMkLst>
            <pc:docMk/>
            <pc:sldMk cId="2087579128" sldId="349"/>
            <ac:spMk id="8" creationId="{6CF8D825-A373-23B0-42A5-FE928A9DF7D9}"/>
          </ac:spMkLst>
        </pc:spChg>
      </pc:sldChg>
      <pc:sldChg chg="modSp">
        <pc:chgData name="Shoba Rwt" userId="62dbc0f0e2ff0745" providerId="LiveId" clId="{CBABF31E-6A22-4EF3-A9ED-877AE2CC3D55}" dt="2026-09-10T03:02:40.681" v="4"/>
        <pc:sldMkLst>
          <pc:docMk/>
          <pc:sldMk cId="831551145" sldId="350"/>
        </pc:sldMkLst>
        <pc:spChg chg="mod">
          <ac:chgData name="Shoba Rwt" userId="62dbc0f0e2ff0745" providerId="LiveId" clId="{CBABF31E-6A22-4EF3-A9ED-877AE2CC3D55}" dt="2026-09-10T03:02:40.681" v="4"/>
          <ac:spMkLst>
            <pc:docMk/>
            <pc:sldMk cId="831551145" sldId="350"/>
            <ac:spMk id="2" creationId="{5ADD058D-9D87-ECC8-A9A5-944C7E6580B6}"/>
          </ac:spMkLst>
        </pc:spChg>
      </pc:sldChg>
      <pc:sldChg chg="modSp">
        <pc:chgData name="Shoba Rwt" userId="62dbc0f0e2ff0745" providerId="LiveId" clId="{CBABF31E-6A22-4EF3-A9ED-877AE2CC3D55}" dt="2026-09-10T03:03:58.707" v="5"/>
        <pc:sldMkLst>
          <pc:docMk/>
          <pc:sldMk cId="3609567162" sldId="351"/>
        </pc:sldMkLst>
        <pc:spChg chg="mod">
          <ac:chgData name="Shoba Rwt" userId="62dbc0f0e2ff0745" providerId="LiveId" clId="{CBABF31E-6A22-4EF3-A9ED-877AE2CC3D55}" dt="2026-09-10T03:03:58.707" v="5"/>
          <ac:spMkLst>
            <pc:docMk/>
            <pc:sldMk cId="3609567162" sldId="351"/>
            <ac:spMk id="2" creationId="{867ED833-A94A-FB1F-9F1A-0FB25CF40F8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njana-rawat26/Seasonal_agriculture_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5303" y="3588198"/>
            <a:ext cx="6678707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SANJANA RAWAT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 INTERNNOVA INTERNSHIP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35" y="2726701"/>
            <a:ext cx="8355288" cy="861497"/>
          </a:xfrm>
        </p:spPr>
        <p:txBody>
          <a:bodyPr>
            <a:normAutofit/>
          </a:bodyPr>
          <a:lstStyle/>
          <a:p>
            <a:r>
              <a:rPr lang="en-GB" sz="3200" dirty="0"/>
              <a:t>Seasonal Agricultural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205D41-0ED3-AA41-B6A8-98C04F3A0E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9461" y="1796903"/>
            <a:ext cx="9534256" cy="3742660"/>
          </a:xfrm>
        </p:spPr>
        <p:txBody>
          <a:bodyPr>
            <a:normAutofit lnSpcReduction="1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Problem Statement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Dataset Overview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Tools &amp; Technologies Used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Data Cleaning &amp; Preparation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Key Visualizations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Power BI Dashboard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Business Insights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tx1"/>
                </a:solidFill>
              </a:rPr>
              <a:t>Recommendations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>
                <a:solidFill>
                  <a:schemeClr val="tx1"/>
                </a:solidFill>
              </a:rPr>
              <a:t>Future Scope</a:t>
            </a:r>
            <a:endParaRPr lang="en-IN" b="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872530-8731-5C5D-9099-9472EECB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358" y="712383"/>
            <a:ext cx="10131377" cy="606054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724815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>
                <a:solidFill>
                  <a:schemeClr val="tx1"/>
                </a:solidFill>
              </a:rPr>
              <a:t>In the agricultural sector, maximizing profitability while efficiently using resources like water, fertilizer, and land is a critical challenge. Farmers and agribusinesses lack data-driven insights to make informed decisions about which crops to grow, which seasons to prioritize, and how to optimize resource usage.</a:t>
            </a: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Dataset Overview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D6625A-F2D1-635C-B892-A00DD4C84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732182"/>
              </p:ext>
            </p:extLst>
          </p:nvPr>
        </p:nvGraphicFramePr>
        <p:xfrm>
          <a:off x="675957" y="1636210"/>
          <a:ext cx="5847907" cy="5132997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073141">
                  <a:extLst>
                    <a:ext uri="{9D8B030D-6E8A-4147-A177-3AD203B41FA5}">
                      <a16:colId xmlns:a16="http://schemas.microsoft.com/office/drawing/2014/main" val="2860992262"/>
                    </a:ext>
                  </a:extLst>
                </a:gridCol>
                <a:gridCol w="4774766">
                  <a:extLst>
                    <a:ext uri="{9D8B030D-6E8A-4147-A177-3AD203B41FA5}">
                      <a16:colId xmlns:a16="http://schemas.microsoft.com/office/drawing/2014/main" val="2990062777"/>
                    </a:ext>
                  </a:extLst>
                </a:gridCol>
              </a:tblGrid>
              <a:tr h="45650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>
                          <a:effectLst/>
                        </a:rPr>
                        <a:t>Attribute</a:t>
                      </a:r>
                      <a:endParaRPr lang="en-IN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 dirty="0">
                          <a:effectLst/>
                        </a:rPr>
                        <a:t>Details</a:t>
                      </a:r>
                      <a:endParaRPr lang="en-IN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149481"/>
                  </a:ext>
                </a:extLst>
              </a:tr>
              <a:tr h="54415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 dirty="0">
                          <a:effectLst/>
                        </a:rPr>
                        <a:t>Total Records</a:t>
                      </a:r>
                      <a:endParaRPr lang="en-IN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>
                          <a:effectLst/>
                        </a:rPr>
                        <a:t>4,000</a:t>
                      </a:r>
                      <a:endParaRPr lang="en-IN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473257"/>
                  </a:ext>
                </a:extLst>
              </a:tr>
              <a:tr h="45650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 dirty="0">
                          <a:effectLst/>
                        </a:rPr>
                        <a:t>Total Features</a:t>
                      </a:r>
                      <a:endParaRPr lang="en-IN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 dirty="0">
                          <a:effectLst/>
                        </a:rPr>
                        <a:t>28 Columns</a:t>
                      </a:r>
                      <a:endParaRPr lang="en-IN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0187806"/>
                  </a:ext>
                </a:extLst>
              </a:tr>
              <a:tr h="45650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 dirty="0">
                          <a:effectLst/>
                        </a:rPr>
                        <a:t>States Covered</a:t>
                      </a:r>
                      <a:endParaRPr lang="en-IN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 dirty="0">
                          <a:effectLst/>
                        </a:rPr>
                        <a:t>8</a:t>
                      </a:r>
                      <a:endParaRPr lang="en-IN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176813"/>
                  </a:ext>
                </a:extLst>
              </a:tr>
              <a:tr h="45650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>
                          <a:effectLst/>
                        </a:rPr>
                        <a:t>Districts Covered</a:t>
                      </a:r>
                      <a:endParaRPr lang="en-IN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>
                          <a:effectLst/>
                        </a:rPr>
                        <a:t>10</a:t>
                      </a:r>
                      <a:endParaRPr lang="en-IN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8817229"/>
                  </a:ext>
                </a:extLst>
              </a:tr>
              <a:tr h="104511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>
                          <a:effectLst/>
                        </a:rPr>
                        <a:t>Crops Analyzed</a:t>
                      </a:r>
                      <a:endParaRPr lang="en-IN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>
                          <a:effectLst/>
                        </a:rPr>
                        <a:t>8 (Rice, Wheat, Maize, Cotton, Sugarcane, Chilli, Groundnut, Pulses)</a:t>
                      </a:r>
                      <a:endParaRPr lang="en-IN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595982"/>
                  </a:ext>
                </a:extLst>
              </a:tr>
              <a:tr h="45650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>
                          <a:effectLst/>
                        </a:rPr>
                        <a:t>Seasons</a:t>
                      </a:r>
                      <a:endParaRPr lang="en-IN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>
                          <a:effectLst/>
                        </a:rPr>
                        <a:t>3 (Kharif, Rabi, Zaid)</a:t>
                      </a:r>
                      <a:endParaRPr lang="en-IN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783257"/>
                  </a:ext>
                </a:extLst>
              </a:tr>
              <a:tr h="75018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>
                          <a:effectLst/>
                        </a:rPr>
                        <a:t>Irrigation Methods</a:t>
                      </a:r>
                      <a:endParaRPr lang="en-IN" sz="1125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en-IN" sz="1125" dirty="0">
                          <a:effectLst/>
                        </a:rPr>
                        <a:t>4 (Flood, Drip, Sprinkler, Rainfed)</a:t>
                      </a:r>
                      <a:endParaRPr lang="en-IN" sz="1125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9962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Python (Pandas and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manipulation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BI-I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nteractive Dashboard Creation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GitHub-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&amp; Documentation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7856280" cy="847817"/>
          </a:xfrm>
        </p:spPr>
        <p:txBody>
          <a:bodyPr>
            <a:normAutofit fontScale="90000"/>
          </a:bodyPr>
          <a:lstStyle/>
          <a:p>
            <a:r>
              <a:rPr lang="en-US" dirty="0"/>
              <a:t>Tools and 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8E844-89DE-C590-F688-3E725188CF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1636210"/>
            <a:ext cx="11290595" cy="460510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1.Step 1: Data Inspection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 df.info(), 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df.describe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and 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df.shape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understand data structure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28 columns with 4,000 records</a:t>
            </a:r>
          </a:p>
          <a:p>
            <a:pPr marL="0" lv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Step 2: Missing Value Identification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Step 3: Missing Value Handling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Imputed missing values using the 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of each column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chosen to minimize impact of outliers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Step 4: Duplicate Check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duplicate records found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Step 5: Export Cleaned Data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as seasonal_agriculture_cleaned.csv</a:t>
            </a:r>
          </a:p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5DB86E-2FE9-2B80-68B6-C992813C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616688"/>
            <a:ext cx="8026400" cy="830997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059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03E1B9-D4FC-1C24-58EE-0B376C997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77" y="1275371"/>
            <a:ext cx="4057218" cy="47040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91CA52-7A13-99E6-32B9-DED17C135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694" y="1201586"/>
            <a:ext cx="7604259" cy="489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E29CF4-ADC9-2DE4-C796-B1C51A3DA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30" y="1102658"/>
            <a:ext cx="4275138" cy="51095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ADE375-15E3-1852-474D-150108CCE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226" y="1102658"/>
            <a:ext cx="8185056" cy="536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091829-8AB3-2637-9F62-CAD08B846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31" y="1134909"/>
            <a:ext cx="4931687" cy="53525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7AD196-3FDD-6647-871B-374321D46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031" y="1134909"/>
            <a:ext cx="4663844" cy="543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977B54-C942-B3F7-2EFF-D7683557D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26" y="1078147"/>
            <a:ext cx="5321712" cy="5044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7A64DA-F054-1BFE-4294-8B21CB870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120" y="1078147"/>
            <a:ext cx="4762913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AF0078-1335-47E5-8BBA-BCA75D7FE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13" y="1408988"/>
            <a:ext cx="3998488" cy="45854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104FA9-4038-36EF-5D5F-72E3E5C1B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188" y="1449970"/>
            <a:ext cx="8071767" cy="467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E5550F-B764-1FA2-2670-C10F3E3038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2044700"/>
            <a:ext cx="7830457" cy="35607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5CBD36E-FE6A-ABD8-D9E3-F0E97A04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73369"/>
            <a:ext cx="11338768" cy="575718"/>
          </a:xfrm>
        </p:spPr>
        <p:txBody>
          <a:bodyPr>
            <a:noAutofit/>
          </a:bodyPr>
          <a:lstStyle/>
          <a:p>
            <a:r>
              <a:rPr lang="en-IN" sz="2800" dirty="0"/>
              <a:t>Seasonal Agricultural Performance 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16B8A-768F-0A8E-222E-B42AF391D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11" y="952665"/>
            <a:ext cx="11362405" cy="574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79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DD058D-9D87-ECC8-A9A5-944C7E6580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9640596" cy="35607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1.Insight 1: Kharif Season Dominates Profitability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Kharif generates ₹318.3M profit vs. Zaid's loss of ₹14.7M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2.Insight 2: Chilli &amp; Sugarcane are Top Crops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two crops significantly outperform staples like Rice and Wheat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3.Insight 3: Flood Irrigation is Common but Inefficient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widely used method but Drip/Sprinkler show better yield efficiency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4.Insight 4: Zaid Season is Resource-Inefficient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water efficiency (4.41) despite highest water usage (6420 m³)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5.Insight 5: Management Practices Matter More Than Weather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weak correlation between environmental factors and yield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0F445D-92F8-7977-23E4-AF88ECDD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7662506" cy="830997"/>
          </a:xfrm>
        </p:spPr>
        <p:txBody>
          <a:bodyPr>
            <a:normAutofit/>
          </a:bodyPr>
          <a:lstStyle/>
          <a:p>
            <a:r>
              <a:rPr lang="en-IN" dirty="0"/>
              <a:t>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831551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7ED833-A94A-FB1F-9F1A-0FB25CF40F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9453984" cy="3560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1: Implement "Kharif-Focus, Zaid-Optimize" Strategy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Allocate majority of resources to Kharif season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Zaid, pilot high-value, low-water crops with Drip irrigation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Capitalizes on Kharif profitability while mitigating Zaid losses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2: Launch "High-Value Crop &amp; Efficient Irrigation" Program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Promote Chilli and Sugarcane in optimal states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Subsidize Drip and Sprinkler irrigation adoption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Addresses both revenue (high-margin crops) and cost (resource efficiency)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1BED21-035F-BEF8-3F1D-D2026A05A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7811796" cy="830997"/>
          </a:xfrm>
        </p:spPr>
        <p:txBody>
          <a:bodyPr>
            <a:normAutofit/>
          </a:bodyPr>
          <a:lstStyle/>
          <a:p>
            <a:r>
              <a:rPr lang="en-IN" dirty="0"/>
              <a:t>Business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609567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7619369" cy="35578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latinLnBrk="1">
              <a:buFont typeface="+mj-lt"/>
              <a:buAutoNum type="alphaU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Crop Recommendation System</a:t>
            </a:r>
          </a:p>
          <a:p>
            <a:pPr marL="342900" indent="-342900" algn="l" latinLnBrk="1">
              <a:buFont typeface="+mj-lt"/>
              <a:buAutoNum type="alphaU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IoT Sensors for Real-Time Farm Monitoring</a:t>
            </a:r>
          </a:p>
          <a:p>
            <a:pPr marL="342900" indent="-342900" algn="l" latinLnBrk="1">
              <a:buFont typeface="+mj-lt"/>
              <a:buAutoNum type="alphaU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 Irrigation &amp; Precision Farming</a:t>
            </a:r>
          </a:p>
          <a:p>
            <a:pPr marL="342900" indent="-342900" algn="l" latinLnBrk="1">
              <a:buFont typeface="+mj-lt"/>
              <a:buAutoNum type="alphaU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 App for Farmers (Crop Advisor + Market Info)</a:t>
            </a:r>
          </a:p>
          <a:p>
            <a:pPr marL="342900" indent="-342900" algn="l" latinLnBrk="1">
              <a:buFont typeface="+mj-lt"/>
              <a:buAutoNum type="alphaU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Climate Change Impact Assessment</a:t>
            </a:r>
          </a:p>
          <a:p>
            <a:pPr marL="342900" indent="-342900" algn="l" latinLnBrk="1">
              <a:buFont typeface="+mj-lt"/>
              <a:buAutoNum type="alphaU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Supply Chain &amp; Price Forecasting</a:t>
            </a:r>
          </a:p>
          <a:p>
            <a:pPr marL="342900" indent="-342900" algn="l" latinLnBrk="1">
              <a:buFont typeface="+mj-lt"/>
              <a:buAutoNum type="alphaU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Data-Driven Agricultural Policy Support</a:t>
            </a:r>
          </a:p>
          <a:p>
            <a:pPr marL="342900" indent="-342900" algn="l" latinLnBrk="1">
              <a:buFont typeface="+mj-lt"/>
              <a:buAutoNum type="alphaU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Farmers' Knowledge Sharing Platform</a:t>
            </a:r>
          </a:p>
          <a:p>
            <a:pPr marL="342900" indent="-342900" algn="l" latinLnBrk="1">
              <a:buFont typeface="+mj-lt"/>
              <a:buAutoNum type="alphaU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Disaster Risk Management (Drought, Flood)</a:t>
            </a:r>
          </a:p>
          <a:p>
            <a:pPr marL="342900" indent="-342900" algn="l" latinLnBrk="1">
              <a:buFont typeface="+mj-lt"/>
              <a:buAutoNum type="alphaU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Export Market Analysis &amp; Global Opportunities</a:t>
            </a:r>
          </a:p>
          <a:p>
            <a:pPr marL="342900" indent="-342900" algn="l" latinLnBrk="1">
              <a:buFont typeface="+mj-lt"/>
              <a:buAutoNum type="alphaU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Pest &amp; Disease Detection using AI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3"/>
              </a:rPr>
              <a:t>Seasonal_agriculture_analysis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788" y="1299882"/>
            <a:ext cx="8606118" cy="406997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Sanjana_rawat_major_project_vois_ppt</Template>
  <TotalTime>23</TotalTime>
  <Words>578</Words>
  <Application>Microsoft Office PowerPoint</Application>
  <PresentationFormat>Widescreen</PresentationFormat>
  <Paragraphs>95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quote-cjk-patch</vt:lpstr>
      <vt:lpstr>Times New Roman</vt:lpstr>
      <vt:lpstr>Trebuchet MS</vt:lpstr>
      <vt:lpstr>Wingdings</vt:lpstr>
      <vt:lpstr>Wingdings 3</vt:lpstr>
      <vt:lpstr>Facet</vt:lpstr>
      <vt:lpstr>Seasonal Agricultural Performance Analysis</vt:lpstr>
      <vt:lpstr>AGENDA</vt:lpstr>
      <vt:lpstr>PROBLEM  STATEMENT</vt:lpstr>
      <vt:lpstr>Dataset Overview    </vt:lpstr>
      <vt:lpstr>Tools and Technologies Used</vt:lpstr>
      <vt:lpstr>Data Cleaning &amp; Preparation </vt:lpstr>
      <vt:lpstr>RESULTS </vt:lpstr>
      <vt:lpstr>RESULTS </vt:lpstr>
      <vt:lpstr>RESULTS </vt:lpstr>
      <vt:lpstr>RESULTS </vt:lpstr>
      <vt:lpstr>RESULTS </vt:lpstr>
      <vt:lpstr>Seasonal Agricultural Performance Dashboard</vt:lpstr>
      <vt:lpstr>Business Insights</vt:lpstr>
      <vt:lpstr>Business Recommendation</vt:lpstr>
      <vt:lpstr>Future scope</vt:lpstr>
      <vt:lpstr>GitHub Link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Shoba Rwt</dc:creator>
  <cp:lastModifiedBy>Shoba Rwt</cp:lastModifiedBy>
  <cp:revision>1</cp:revision>
  <dcterms:created xsi:type="dcterms:W3CDTF">2026-09-10T02:41:31Z</dcterms:created>
  <dcterms:modified xsi:type="dcterms:W3CDTF">2026-09-10T03:04:59Z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