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903FD6-E933-4313-9A67-083CE7C867C6}" v="88" dt="2026-09-10T01:47:38.047"/>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oba Rwt" userId="62dbc0f0e2ff0745" providerId="LiveId" clId="{CBABF31E-6A22-4EF3-A9ED-877AE2CC3D55}"/>
    <pc:docChg chg="undo custSel modSld">
      <pc:chgData name="Shoba Rwt" userId="62dbc0f0e2ff0745" providerId="LiveId" clId="{CBABF31E-6A22-4EF3-A9ED-877AE2CC3D55}" dt="2026-09-10T01:48:02.177" v="217" actId="20577"/>
      <pc:docMkLst>
        <pc:docMk/>
      </pc:docMkLst>
      <pc:sldChg chg="modSp">
        <pc:chgData name="Shoba Rwt" userId="62dbc0f0e2ff0745" providerId="LiveId" clId="{CBABF31E-6A22-4EF3-A9ED-877AE2CC3D55}" dt="2026-09-09T06:12:56.187" v="200" actId="2711"/>
        <pc:sldMkLst>
          <pc:docMk/>
          <pc:sldMk cId="1341901065" sldId="302"/>
        </pc:sldMkLst>
        <pc:spChg chg="mod">
          <ac:chgData name="Shoba Rwt" userId="62dbc0f0e2ff0745" providerId="LiveId" clId="{CBABF31E-6A22-4EF3-A9ED-877AE2CC3D55}" dt="2026-09-09T06:12:56.187" v="200" actId="2711"/>
          <ac:spMkLst>
            <pc:docMk/>
            <pc:sldMk cId="1341901065" sldId="302"/>
            <ac:spMk id="7" creationId="{B21C28F5-3CA3-4B78-B5C9-550C00BB3174}"/>
          </ac:spMkLst>
        </pc:spChg>
      </pc:sldChg>
      <pc:sldChg chg="modSp mod">
        <pc:chgData name="Shoba Rwt" userId="62dbc0f0e2ff0745" providerId="LiveId" clId="{CBABF31E-6A22-4EF3-A9ED-877AE2CC3D55}" dt="2026-09-10T01:48:02.177" v="217" actId="20577"/>
        <pc:sldMkLst>
          <pc:docMk/>
          <pc:sldMk cId="3696770303" sldId="315"/>
        </pc:sldMkLst>
        <pc:spChg chg="mod">
          <ac:chgData name="Shoba Rwt" userId="62dbc0f0e2ff0745" providerId="LiveId" clId="{CBABF31E-6A22-4EF3-A9ED-877AE2CC3D55}" dt="2026-09-10T01:48:02.177" v="217" actId="20577"/>
          <ac:spMkLst>
            <pc:docMk/>
            <pc:sldMk cId="3696770303" sldId="315"/>
            <ac:spMk id="7" creationId="{0D6ED7A5-73C9-E8C6-1DC2-AE958BE79A9A}"/>
          </ac:spMkLst>
        </pc:spChg>
      </pc:sldChg>
      <pc:sldChg chg="modSp mod">
        <pc:chgData name="Shoba Rwt" userId="62dbc0f0e2ff0745" providerId="LiveId" clId="{CBABF31E-6A22-4EF3-A9ED-877AE2CC3D55}" dt="2026-09-09T06:11:18.749" v="190" actId="27636"/>
        <pc:sldMkLst>
          <pc:docMk/>
          <pc:sldMk cId="3098548442" sldId="327"/>
        </pc:sldMkLst>
        <pc:spChg chg="mod">
          <ac:chgData name="Shoba Rwt" userId="62dbc0f0e2ff0745" providerId="LiveId" clId="{CBABF31E-6A22-4EF3-A9ED-877AE2CC3D55}" dt="2026-09-09T06:11:18.749" v="190" actId="27636"/>
          <ac:spMkLst>
            <pc:docMk/>
            <pc:sldMk cId="3098548442" sldId="327"/>
            <ac:spMk id="2" creationId="{E46E4DD1-270B-4C80-AFF0-EB26F132AF36}"/>
          </ac:spMkLst>
        </pc:spChg>
      </pc:sldChg>
      <pc:sldChg chg="modSp mod">
        <pc:chgData name="Shoba Rwt" userId="62dbc0f0e2ff0745" providerId="LiveId" clId="{CBABF31E-6A22-4EF3-A9ED-877AE2CC3D55}" dt="2026-09-09T06:12:48.610" v="199" actId="1076"/>
        <pc:sldMkLst>
          <pc:docMk/>
          <pc:sldMk cId="48075006" sldId="329"/>
        </pc:sldMkLst>
        <pc:spChg chg="mod">
          <ac:chgData name="Shoba Rwt" userId="62dbc0f0e2ff0745" providerId="LiveId" clId="{CBABF31E-6A22-4EF3-A9ED-877AE2CC3D55}" dt="2026-09-09T06:12:48.610" v="199" actId="1076"/>
          <ac:spMkLst>
            <pc:docMk/>
            <pc:sldMk cId="48075006" sldId="329"/>
            <ac:spMk id="2" creationId="{664E3B60-2780-459A-8583-F095D5E7463A}"/>
          </ac:spMkLst>
        </pc:spChg>
      </pc:sldChg>
      <pc:sldChg chg="addSp delSp modSp mod">
        <pc:chgData name="Shoba Rwt" userId="62dbc0f0e2ff0745" providerId="LiveId" clId="{CBABF31E-6A22-4EF3-A9ED-877AE2CC3D55}" dt="2026-09-10T01:47:38.047" v="213" actId="20577"/>
        <pc:sldMkLst>
          <pc:docMk/>
          <pc:sldMk cId="1604013440" sldId="338"/>
        </pc:sldMkLst>
        <pc:spChg chg="mod">
          <ac:chgData name="Shoba Rwt" userId="62dbc0f0e2ff0745" providerId="LiveId" clId="{CBABF31E-6A22-4EF3-A9ED-877AE2CC3D55}" dt="2026-09-10T01:47:38.047" v="213" actId="20577"/>
          <ac:spMkLst>
            <pc:docMk/>
            <pc:sldMk cId="1604013440" sldId="338"/>
            <ac:spMk id="2" creationId="{7201737A-B873-4D1D-8A41-5ABF5184BC8F}"/>
          </ac:spMkLst>
        </pc:spChg>
        <pc:spChg chg="mod">
          <ac:chgData name="Shoba Rwt" userId="62dbc0f0e2ff0745" providerId="LiveId" clId="{CBABF31E-6A22-4EF3-A9ED-877AE2CC3D55}" dt="2026-09-10T01:47:11.346" v="210" actId="14100"/>
          <ac:spMkLst>
            <pc:docMk/>
            <pc:sldMk cId="1604013440" sldId="338"/>
            <ac:spMk id="3" creationId="{17F04107-8754-E47D-3375-529E689711FA}"/>
          </ac:spMkLst>
        </pc:spChg>
        <pc:spChg chg="mod">
          <ac:chgData name="Shoba Rwt" userId="62dbc0f0e2ff0745" providerId="LiveId" clId="{CBABF31E-6A22-4EF3-A9ED-877AE2CC3D55}" dt="2026-09-09T06:11:04.326" v="187" actId="20577"/>
          <ac:spMkLst>
            <pc:docMk/>
            <pc:sldMk cId="1604013440" sldId="338"/>
            <ac:spMk id="4" creationId="{92056599-CDAA-4367-BEF8-31D6E32518C8}"/>
          </ac:spMkLst>
        </pc:spChg>
        <pc:spChg chg="add del mod">
          <ac:chgData name="Shoba Rwt" userId="62dbc0f0e2ff0745" providerId="LiveId" clId="{CBABF31E-6A22-4EF3-A9ED-877AE2CC3D55}" dt="2026-09-09T05:56:09.417" v="137"/>
          <ac:spMkLst>
            <pc:docMk/>
            <pc:sldMk cId="1604013440" sldId="338"/>
            <ac:spMk id="5" creationId="{34DAD53E-9D93-704F-F65A-E10D23631063}"/>
          </ac:spMkLst>
        </pc:spChg>
      </pc:sldChg>
      <pc:sldChg chg="modSp mod modAnim">
        <pc:chgData name="Shoba Rwt" userId="62dbc0f0e2ff0745" providerId="LiveId" clId="{CBABF31E-6A22-4EF3-A9ED-877AE2CC3D55}" dt="2026-09-09T03:00:46.237" v="26" actId="403"/>
        <pc:sldMkLst>
          <pc:docMk/>
          <pc:sldMk cId="776828144" sldId="341"/>
        </pc:sldMkLst>
        <pc:spChg chg="mod">
          <ac:chgData name="Shoba Rwt" userId="62dbc0f0e2ff0745" providerId="LiveId" clId="{CBABF31E-6A22-4EF3-A9ED-877AE2CC3D55}" dt="2026-09-09T03:00:46.237" v="26" actId="403"/>
          <ac:spMkLst>
            <pc:docMk/>
            <pc:sldMk cId="776828144" sldId="341"/>
            <ac:spMk id="7" creationId="{B7444DDE-63A3-9721-77CC-C93FED110DAF}"/>
          </ac:spMkLst>
        </pc:spChg>
      </pc:sldChg>
      <pc:sldChg chg="modSp mod">
        <pc:chgData name="Shoba Rwt" userId="62dbc0f0e2ff0745" providerId="LiveId" clId="{CBABF31E-6A22-4EF3-A9ED-877AE2CC3D55}" dt="2026-09-09T05:55:18.032" v="88" actId="20577"/>
        <pc:sldMkLst>
          <pc:docMk/>
          <pc:sldMk cId="3863610428" sldId="342"/>
        </pc:sldMkLst>
        <pc:spChg chg="mod">
          <ac:chgData name="Shoba Rwt" userId="62dbc0f0e2ff0745" providerId="LiveId" clId="{CBABF31E-6A22-4EF3-A9ED-877AE2CC3D55}" dt="2026-09-09T05:55:18.032" v="88" actId="20577"/>
          <ac:spMkLst>
            <pc:docMk/>
            <pc:sldMk cId="3863610428" sldId="342"/>
            <ac:spMk id="3" creationId="{5F0B37E4-66B1-8633-7266-68B32174275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anjana-rawat26/Seasonal_agriculture_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079810" y="3588198"/>
            <a:ext cx="6678707" cy="861497"/>
          </a:xfrm>
        </p:spPr>
        <p:txBody>
          <a:bodyPr vert="horz" lIns="91440" tIns="45720" rIns="91440" bIns="45720" rtlCol="0" anchor="t">
            <a:normAutofit/>
          </a:bodyPr>
          <a:lstStyle/>
          <a:p>
            <a:pPr algn="r"/>
            <a:r>
              <a:rPr lang="en-US" dirty="0">
                <a:solidFill>
                  <a:schemeClr val="tx1"/>
                </a:solidFill>
              </a:rPr>
              <a:t>SANJANA RAWAT</a:t>
            </a:r>
          </a:p>
          <a:p>
            <a:pPr algn="r"/>
            <a:r>
              <a:rPr lang="en-US" dirty="0">
                <a:solidFill>
                  <a:schemeClr val="tx1"/>
                </a:solidFill>
              </a:rPr>
              <a:t> HEMVATI NANDAN BAHUGUNA GARHWAL UNIVERSITY</a:t>
            </a:r>
            <a:endParaRPr lang="en-IN"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595535" y="2726701"/>
            <a:ext cx="8355288" cy="861497"/>
          </a:xfrm>
        </p:spPr>
        <p:txBody>
          <a:bodyPr>
            <a:normAutofit/>
          </a:bodyPr>
          <a:lstStyle/>
          <a:p>
            <a:r>
              <a:rPr lang="en-GB" sz="3200" dirty="0"/>
              <a:t>Seasonal Agricultural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2654835" y="4343445"/>
            <a:ext cx="8355288" cy="369332"/>
          </a:xfrm>
          <a:prstGeom prst="rect">
            <a:avLst/>
          </a:prstGeom>
          <a:noFill/>
        </p:spPr>
        <p:txBody>
          <a:bodyPr wrap="square" rtlCol="0">
            <a:spAutoFit/>
          </a:bodyPr>
          <a:lstStyle/>
          <a:p>
            <a:r>
              <a:rPr lang="en-US" b="1" dirty="0"/>
              <a:t>AICTE STU ID : </a:t>
            </a:r>
            <a:r>
              <a:rPr lang="en-IN" b="1" dirty="0"/>
              <a:t>STU6a3d1814ca62f1782388756</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7500" lnSpcReduction="20000"/>
          </a:bodyPr>
          <a:lstStyle/>
          <a:p>
            <a:pPr marL="0" indent="0">
              <a:lnSpc>
                <a:spcPct val="100000"/>
              </a:lnSpc>
              <a:buNone/>
            </a:pPr>
            <a:r>
              <a:rPr lang="en-IN" sz="2800" dirty="0">
                <a:latin typeface="Times New Roman" panose="02020603050405020304" pitchFamily="18" charset="0"/>
                <a:cs typeface="Times New Roman" panose="02020603050405020304" pitchFamily="18"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sz="2800" dirty="0" err="1">
                <a:latin typeface="Times New Roman" panose="02020603050405020304" pitchFamily="18" charset="0"/>
                <a:cs typeface="Times New Roman" panose="02020603050405020304" pitchFamily="18" charset="0"/>
              </a:rPr>
              <a:t>analyze</a:t>
            </a:r>
            <a:r>
              <a:rPr lang="en-IN" sz="2800" dirty="0">
                <a:latin typeface="Times New Roman" panose="02020603050405020304" pitchFamily="18" charset="0"/>
                <a:cs typeface="Times New Roman" panose="02020603050405020304" pitchFamily="18" charset="0"/>
              </a:rPr>
              <a:t> the given agricultural dataset and investigate seasonal differences in agricultural performance by identifying meaningful patterns, trends, relationships and variations within the available data. </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r>
              <a:rPr lang="en-GB" dirty="0"/>
              <a:t> </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7" name="TextBox 6">
            <a:extLst>
              <a:ext uri="{FF2B5EF4-FFF2-40B4-BE49-F238E27FC236}">
                <a16:creationId xmlns:a16="http://schemas.microsoft.com/office/drawing/2014/main" id="{0D6ED7A5-73C9-E8C6-1DC2-AE958BE79A9A}"/>
              </a:ext>
            </a:extLst>
          </p:cNvPr>
          <p:cNvSpPr txBox="1"/>
          <p:nvPr/>
        </p:nvSpPr>
        <p:spPr>
          <a:xfrm>
            <a:off x="808018" y="1697669"/>
            <a:ext cx="9343688" cy="2985433"/>
          </a:xfrm>
          <a:prstGeom prst="rect">
            <a:avLst/>
          </a:prstGeom>
          <a:noFill/>
        </p:spPr>
        <p:txBody>
          <a:bodyPr wrap="square">
            <a:spAutoFit/>
          </a:bodyPr>
          <a:lstStyle/>
          <a:p>
            <a:pPr marL="0" marR="0" indent="0" algn="l">
              <a:spcBef>
                <a:spcPts val="1200"/>
              </a:spcBef>
              <a:spcAft>
                <a:spcPts val="1200"/>
              </a:spcAft>
              <a:buNone/>
            </a:pPr>
            <a:r>
              <a:rPr lang="en-IN" sz="1800" b="1" i="0" dirty="0">
                <a:solidFill>
                  <a:schemeClr val="tx1"/>
                </a:solidFill>
                <a:effectLst/>
                <a:latin typeface="Times New Roman" panose="02020603050405020304" pitchFamily="18" charset="0"/>
                <a:cs typeface="Times New Roman" panose="02020603050405020304" pitchFamily="18" charset="0"/>
              </a:rPr>
              <a:t>Objective:</a:t>
            </a:r>
            <a:r>
              <a:rPr lang="en-IN" sz="1800" b="0" i="0" dirty="0">
                <a:solidFill>
                  <a:schemeClr val="tx1"/>
                </a:solidFill>
                <a:effectLst/>
                <a:latin typeface="Times New Roman" panose="02020603050405020304" pitchFamily="18" charset="0"/>
                <a:cs typeface="Times New Roman" panose="02020603050405020304" pitchFamily="18" charset="0"/>
              </a:rPr>
              <a:t> </a:t>
            </a:r>
            <a:r>
              <a:rPr lang="en-IN" sz="1800" b="0" i="0" dirty="0" err="1">
                <a:solidFill>
                  <a:schemeClr val="tx1"/>
                </a:solidFill>
                <a:effectLst/>
                <a:latin typeface="Times New Roman" panose="02020603050405020304" pitchFamily="18" charset="0"/>
                <a:cs typeface="Times New Roman" panose="02020603050405020304" pitchFamily="18" charset="0"/>
              </a:rPr>
              <a:t>Analyze</a:t>
            </a:r>
            <a:r>
              <a:rPr lang="en-IN" sz="1800" b="0" i="0" dirty="0">
                <a:solidFill>
                  <a:schemeClr val="tx1"/>
                </a:solidFill>
                <a:effectLst/>
                <a:latin typeface="Times New Roman" panose="02020603050405020304" pitchFamily="18" charset="0"/>
                <a:cs typeface="Times New Roman" panose="02020603050405020304" pitchFamily="18" charset="0"/>
              </a:rPr>
              <a:t> </a:t>
            </a:r>
            <a:r>
              <a:rPr lang="en-IN" sz="1800" b="1" i="0" dirty="0">
                <a:solidFill>
                  <a:schemeClr val="tx1"/>
                </a:solidFill>
                <a:effectLst/>
                <a:latin typeface="Times New Roman" panose="02020603050405020304" pitchFamily="18" charset="0"/>
                <a:cs typeface="Times New Roman" panose="02020603050405020304" pitchFamily="18" charset="0"/>
              </a:rPr>
              <a:t>4,000 farm records</a:t>
            </a:r>
            <a:r>
              <a:rPr lang="en-IN" sz="1800" b="0" i="0" dirty="0">
                <a:solidFill>
                  <a:schemeClr val="tx1"/>
                </a:solidFill>
                <a:effectLst/>
                <a:latin typeface="Times New Roman" panose="02020603050405020304" pitchFamily="18" charset="0"/>
                <a:cs typeface="Times New Roman" panose="02020603050405020304" pitchFamily="18" charset="0"/>
              </a:rPr>
              <a:t> across </a:t>
            </a:r>
            <a:r>
              <a:rPr lang="en-IN" sz="1800" b="1" i="0" dirty="0">
                <a:solidFill>
                  <a:schemeClr val="tx1"/>
                </a:solidFill>
                <a:effectLst/>
                <a:latin typeface="Times New Roman" panose="02020603050405020304" pitchFamily="18" charset="0"/>
                <a:cs typeface="Times New Roman" panose="02020603050405020304" pitchFamily="18" charset="0"/>
              </a:rPr>
              <a:t>3 seasons</a:t>
            </a:r>
            <a:r>
              <a:rPr lang="en-IN" sz="1800" b="0" i="0" dirty="0">
                <a:solidFill>
                  <a:schemeClr val="tx1"/>
                </a:solidFill>
                <a:effectLst/>
                <a:latin typeface="Times New Roman" panose="02020603050405020304" pitchFamily="18" charset="0"/>
                <a:cs typeface="Times New Roman" panose="02020603050405020304" pitchFamily="18" charset="0"/>
              </a:rPr>
              <a:t> (Kharif, Rabi, Zaid) &amp; </a:t>
            </a:r>
            <a:r>
              <a:rPr lang="en-IN" sz="1800" b="1" i="0" dirty="0">
                <a:solidFill>
                  <a:schemeClr val="tx1"/>
                </a:solidFill>
                <a:effectLst/>
                <a:latin typeface="Times New Roman" panose="02020603050405020304" pitchFamily="18" charset="0"/>
                <a:cs typeface="Times New Roman" panose="02020603050405020304" pitchFamily="18" charset="0"/>
              </a:rPr>
              <a:t>8 states</a:t>
            </a:r>
            <a:r>
              <a:rPr lang="en-IN" sz="1800" b="0" i="0" dirty="0">
                <a:solidFill>
                  <a:schemeClr val="tx1"/>
                </a:solidFill>
                <a:effectLst/>
                <a:latin typeface="Times New Roman" panose="02020603050405020304" pitchFamily="18" charset="0"/>
                <a:cs typeface="Times New Roman" panose="02020603050405020304" pitchFamily="18" charset="0"/>
              </a:rPr>
              <a:t> to identify seasonal patterns in agricultural performance.</a:t>
            </a:r>
          </a:p>
          <a:p>
            <a:pPr marL="0" marR="0" indent="0" algn="l">
              <a:spcBef>
                <a:spcPts val="1200"/>
              </a:spcBef>
              <a:spcAft>
                <a:spcPts val="1200"/>
              </a:spcAft>
              <a:buNone/>
            </a:pPr>
            <a:r>
              <a:rPr lang="en-IN" sz="1800" b="1" i="0" dirty="0">
                <a:solidFill>
                  <a:schemeClr val="tx1"/>
                </a:solidFill>
                <a:effectLst/>
                <a:latin typeface="Times New Roman" panose="02020603050405020304" pitchFamily="18" charset="0"/>
                <a:cs typeface="Times New Roman" panose="02020603050405020304" pitchFamily="18" charset="0"/>
              </a:rPr>
              <a:t>Dataset:</a:t>
            </a:r>
            <a:r>
              <a:rPr lang="en-IN" sz="1800" b="0" i="0" dirty="0">
                <a:solidFill>
                  <a:schemeClr val="tx1"/>
                </a:solidFill>
                <a:effectLst/>
                <a:latin typeface="Times New Roman" panose="02020603050405020304" pitchFamily="18" charset="0"/>
                <a:cs typeface="Times New Roman" panose="02020603050405020304" pitchFamily="18" charset="0"/>
              </a:rPr>
              <a:t> 28 parameters covering crops, environment, resources, and economics.</a:t>
            </a:r>
          </a:p>
          <a:p>
            <a:pPr marL="0" marR="0" indent="0" algn="l">
              <a:spcBef>
                <a:spcPts val="1200"/>
              </a:spcBef>
              <a:spcAft>
                <a:spcPts val="1200"/>
              </a:spcAft>
              <a:buNone/>
            </a:pPr>
            <a:r>
              <a:rPr lang="en-IN" sz="1800" b="1" i="0" dirty="0">
                <a:solidFill>
                  <a:schemeClr val="tx1"/>
                </a:solidFill>
                <a:effectLst/>
                <a:latin typeface="Times New Roman" panose="02020603050405020304" pitchFamily="18" charset="0"/>
                <a:cs typeface="Times New Roman" panose="02020603050405020304" pitchFamily="18" charset="0"/>
              </a:rPr>
              <a:t>Methodology:</a:t>
            </a:r>
            <a:r>
              <a:rPr lang="en-IN" sz="1800" b="0" i="0" dirty="0">
                <a:solidFill>
                  <a:schemeClr val="tx1"/>
                </a:solidFill>
                <a:effectLst/>
                <a:latin typeface="Times New Roman" panose="02020603050405020304" pitchFamily="18" charset="0"/>
                <a:cs typeface="Times New Roman" panose="02020603050405020304" pitchFamily="18" charset="0"/>
              </a:rPr>
              <a:t> Data cleaning → Exploratory analysis → Correlation, Seaborn) on Google </a:t>
            </a:r>
            <a:r>
              <a:rPr lang="en-IN" sz="1800" b="0" i="0" dirty="0" err="1">
                <a:solidFill>
                  <a:schemeClr val="tx1"/>
                </a:solidFill>
                <a:effectLst/>
                <a:latin typeface="Times New Roman" panose="02020603050405020304" pitchFamily="18" charset="0"/>
                <a:cs typeface="Times New Roman" panose="02020603050405020304" pitchFamily="18" charset="0"/>
              </a:rPr>
              <a:t>Colab</a:t>
            </a:r>
            <a:endParaRPr lang="en-IN" sz="1800" b="0" i="0" dirty="0">
              <a:solidFill>
                <a:schemeClr val="tx1"/>
              </a:solidFill>
              <a:effectLst/>
              <a:latin typeface="Times New Roman" panose="02020603050405020304" pitchFamily="18" charset="0"/>
              <a:cs typeface="Times New Roman" panose="02020603050405020304" pitchFamily="18" charset="0"/>
            </a:endParaRPr>
          </a:p>
          <a:p>
            <a:pPr>
              <a:spcBef>
                <a:spcPts val="1200"/>
              </a:spcBef>
              <a:spcAft>
                <a:spcPts val="1200"/>
              </a:spcAft>
            </a:pPr>
            <a:r>
              <a:rPr lang="en-IN" sz="1800" b="1" i="0" dirty="0">
                <a:solidFill>
                  <a:schemeClr val="tx1"/>
                </a:solidFill>
                <a:effectLst/>
                <a:latin typeface="Times New Roman" panose="02020603050405020304" pitchFamily="18" charset="0"/>
                <a:cs typeface="Times New Roman" panose="02020603050405020304" pitchFamily="18" charset="0"/>
              </a:rPr>
              <a:t>Key Findings: </a:t>
            </a:r>
            <a:r>
              <a:rPr lang="en-IN" dirty="0">
                <a:latin typeface="Times New Roman" panose="02020603050405020304" pitchFamily="18" charset="0"/>
                <a:cs typeface="Times New Roman" panose="02020603050405020304" pitchFamily="18" charset="0"/>
              </a:rPr>
              <a:t>analysis → Statistical testing</a:t>
            </a:r>
          </a:p>
          <a:p>
            <a:pPr>
              <a:spcBef>
                <a:spcPts val="1200"/>
              </a:spcBef>
              <a:spcAft>
                <a:spcPts val="1200"/>
              </a:spcAft>
            </a:pPr>
            <a:r>
              <a:rPr lang="en-IN" b="1" dirty="0">
                <a:latin typeface="Times New Roman" panose="02020603050405020304" pitchFamily="18" charset="0"/>
                <a:cs typeface="Times New Roman" panose="02020603050405020304" pitchFamily="18" charset="0"/>
              </a:rPr>
              <a:t>Tech:</a:t>
            </a:r>
            <a:r>
              <a:rPr lang="en-IN" dirty="0">
                <a:latin typeface="Times New Roman" panose="02020603050405020304" pitchFamily="18" charset="0"/>
                <a:cs typeface="Times New Roman" panose="02020603050405020304" pitchFamily="18" charset="0"/>
              </a:rPr>
              <a:t> Python (Pandas, NumPy, Matplotlib)</a:t>
            </a:r>
            <a:endParaRPr lang="en-IN" sz="1800" b="0" i="0" dirty="0">
              <a:solidFill>
                <a:srgbClr val="0F1115"/>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lvl="0"/>
            <a:r>
              <a:rPr lang="en-IN" b="1" dirty="0">
                <a:latin typeface="Times New Roman" panose="02020603050405020304" pitchFamily="18" charset="0"/>
                <a:cs typeface="Times New Roman" panose="02020603050405020304" pitchFamily="18" charset="0"/>
              </a:rPr>
              <a:t>Farmers</a:t>
            </a:r>
            <a:r>
              <a:rPr lang="en-IN" dirty="0">
                <a:latin typeface="Times New Roman" panose="02020603050405020304" pitchFamily="18" charset="0"/>
                <a:cs typeface="Times New Roman" panose="02020603050405020304" pitchFamily="18" charset="0"/>
              </a:rPr>
              <a:t> → Crop selection, resource optimization</a:t>
            </a:r>
          </a:p>
          <a:p>
            <a:pPr lvl="0"/>
            <a:r>
              <a:rPr lang="en-IN" b="1" dirty="0">
                <a:latin typeface="Times New Roman" panose="02020603050405020304" pitchFamily="18" charset="0"/>
                <a:cs typeface="Times New Roman" panose="02020603050405020304" pitchFamily="18" charset="0"/>
              </a:rPr>
              <a:t>Policymakers</a:t>
            </a:r>
            <a:r>
              <a:rPr lang="en-IN" dirty="0">
                <a:latin typeface="Times New Roman" panose="02020603050405020304" pitchFamily="18" charset="0"/>
                <a:cs typeface="Times New Roman" panose="02020603050405020304" pitchFamily="18" charset="0"/>
              </a:rPr>
              <a:t> → Evidence-based planning, subsidies</a:t>
            </a:r>
          </a:p>
          <a:p>
            <a:pPr lvl="0"/>
            <a:r>
              <a:rPr lang="en-IN" b="1" dirty="0">
                <a:latin typeface="Times New Roman" panose="02020603050405020304" pitchFamily="18" charset="0"/>
                <a:cs typeface="Times New Roman" panose="02020603050405020304" pitchFamily="18" charset="0"/>
              </a:rPr>
              <a:t>Agribusiness</a:t>
            </a:r>
            <a:r>
              <a:rPr lang="en-IN" dirty="0">
                <a:latin typeface="Times New Roman" panose="02020603050405020304" pitchFamily="18" charset="0"/>
                <a:cs typeface="Times New Roman" panose="02020603050405020304" pitchFamily="18" charset="0"/>
              </a:rPr>
              <a:t> → Market opportunities, supply chain</a:t>
            </a:r>
          </a:p>
          <a:p>
            <a:pPr lvl="0"/>
            <a:r>
              <a:rPr lang="en-IN" b="1" dirty="0">
                <a:latin typeface="Times New Roman" panose="02020603050405020304" pitchFamily="18" charset="0"/>
                <a:cs typeface="Times New Roman" panose="02020603050405020304" pitchFamily="18" charset="0"/>
              </a:rPr>
              <a:t>Researchers</a:t>
            </a:r>
            <a:r>
              <a:rPr lang="en-IN" dirty="0">
                <a:latin typeface="Times New Roman" panose="02020603050405020304" pitchFamily="18" charset="0"/>
                <a:cs typeface="Times New Roman" panose="02020603050405020304" pitchFamily="18" charset="0"/>
              </a:rPr>
              <a:t> → Methodology, case study</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55867"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r>
              <a:rPr lang="en-IN" b="1" dirty="0">
                <a:latin typeface="Times New Roman" panose="02020603050405020304" pitchFamily="18" charset="0"/>
                <a:cs typeface="Times New Roman" panose="02020603050405020304" pitchFamily="18" charset="0"/>
              </a:rPr>
              <a:t>Language:</a:t>
            </a:r>
            <a:r>
              <a:rPr lang="en-IN" dirty="0">
                <a:latin typeface="Times New Roman" panose="02020603050405020304" pitchFamily="18" charset="0"/>
                <a:cs typeface="Times New Roman" panose="02020603050405020304" pitchFamily="18" charset="0"/>
              </a:rPr>
              <a:t> Python 3</a:t>
            </a:r>
          </a:p>
          <a:p>
            <a:r>
              <a:rPr lang="en-IN" b="1" dirty="0">
                <a:latin typeface="Times New Roman" panose="02020603050405020304" pitchFamily="18" charset="0"/>
                <a:cs typeface="Times New Roman" panose="02020603050405020304" pitchFamily="18" charset="0"/>
              </a:rPr>
              <a:t>Libraries:</a:t>
            </a:r>
            <a:r>
              <a:rPr lang="en-IN" dirty="0">
                <a:latin typeface="Times New Roman" panose="02020603050405020304" pitchFamily="18" charset="0"/>
                <a:cs typeface="Times New Roman" panose="02020603050405020304" pitchFamily="18" charset="0"/>
              </a:rPr>
              <a:t> Pandas, NumPy, Matplotlib, Seaborn, SciPy</a:t>
            </a:r>
          </a:p>
          <a:p>
            <a:r>
              <a:rPr lang="en-IN" b="1" dirty="0">
                <a:latin typeface="Times New Roman" panose="02020603050405020304" pitchFamily="18" charset="0"/>
                <a:cs typeface="Times New Roman" panose="02020603050405020304" pitchFamily="18" charset="0"/>
              </a:rPr>
              <a:t>Platform:</a:t>
            </a:r>
            <a:r>
              <a:rPr lang="en-IN" dirty="0">
                <a:latin typeface="Times New Roman" panose="02020603050405020304" pitchFamily="18" charset="0"/>
                <a:cs typeface="Times New Roman" panose="02020603050405020304" pitchFamily="18" charset="0"/>
              </a:rPr>
              <a:t> Google </a:t>
            </a:r>
            <a:r>
              <a:rPr lang="en-IN" dirty="0" err="1">
                <a:latin typeface="Times New Roman" panose="02020603050405020304" pitchFamily="18" charset="0"/>
                <a:cs typeface="Times New Roman" panose="02020603050405020304" pitchFamily="18" charset="0"/>
              </a:rPr>
              <a:t>Colab</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Format:</a:t>
            </a:r>
            <a:r>
              <a:rPr lang="en-IN" dirty="0">
                <a:latin typeface="Times New Roman" panose="02020603050405020304" pitchFamily="18" charset="0"/>
                <a:cs typeface="Times New Roman" panose="02020603050405020304" pitchFamily="18" charset="0"/>
              </a:rPr>
              <a:t> Jupyter Notebook</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C303E1B9-D4FC-1C24-58EE-0B376C997AB3}"/>
              </a:ext>
            </a:extLst>
          </p:cNvPr>
          <p:cNvPicPr>
            <a:picLocks noChangeAspect="1"/>
          </p:cNvPicPr>
          <p:nvPr/>
        </p:nvPicPr>
        <p:blipFill>
          <a:blip r:embed="rId3"/>
          <a:stretch>
            <a:fillRect/>
          </a:stretch>
        </p:blipFill>
        <p:spPr>
          <a:xfrm>
            <a:off x="389277" y="1275371"/>
            <a:ext cx="4057218" cy="4704088"/>
          </a:xfrm>
          <a:prstGeom prst="rect">
            <a:avLst/>
          </a:prstGeom>
        </p:spPr>
      </p:pic>
      <p:pic>
        <p:nvPicPr>
          <p:cNvPr id="13" name="Picture 12">
            <a:extLst>
              <a:ext uri="{FF2B5EF4-FFF2-40B4-BE49-F238E27FC236}">
                <a16:creationId xmlns:a16="http://schemas.microsoft.com/office/drawing/2014/main" id="{1D91CA52-7A13-99E6-32B9-DED17C13569A}"/>
              </a:ext>
            </a:extLst>
          </p:cNvPr>
          <p:cNvPicPr>
            <a:picLocks noChangeAspect="1"/>
          </p:cNvPicPr>
          <p:nvPr/>
        </p:nvPicPr>
        <p:blipFill>
          <a:blip r:embed="rId4"/>
          <a:stretch>
            <a:fillRect/>
          </a:stretch>
        </p:blipFill>
        <p:spPr>
          <a:xfrm>
            <a:off x="4345694" y="1201586"/>
            <a:ext cx="7604259" cy="4894414"/>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29E29CF4-ADC9-2DE4-C796-B1C51A3DAFFC}"/>
              </a:ext>
            </a:extLst>
          </p:cNvPr>
          <p:cNvPicPr>
            <a:picLocks noChangeAspect="1"/>
          </p:cNvPicPr>
          <p:nvPr/>
        </p:nvPicPr>
        <p:blipFill>
          <a:blip r:embed="rId3"/>
          <a:stretch>
            <a:fillRect/>
          </a:stretch>
        </p:blipFill>
        <p:spPr>
          <a:xfrm>
            <a:off x="410630" y="1102658"/>
            <a:ext cx="4275138" cy="5109567"/>
          </a:xfrm>
          <a:prstGeom prst="rect">
            <a:avLst/>
          </a:prstGeom>
        </p:spPr>
      </p:pic>
      <p:pic>
        <p:nvPicPr>
          <p:cNvPr id="9" name="Picture 8">
            <a:extLst>
              <a:ext uri="{FF2B5EF4-FFF2-40B4-BE49-F238E27FC236}">
                <a16:creationId xmlns:a16="http://schemas.microsoft.com/office/drawing/2014/main" id="{F8ADE375-15E3-1852-474D-150108CCE510}"/>
              </a:ext>
            </a:extLst>
          </p:cNvPr>
          <p:cNvPicPr>
            <a:picLocks noChangeAspect="1"/>
          </p:cNvPicPr>
          <p:nvPr/>
        </p:nvPicPr>
        <p:blipFill>
          <a:blip r:embed="rId4"/>
          <a:stretch>
            <a:fillRect/>
          </a:stretch>
        </p:blipFill>
        <p:spPr>
          <a:xfrm>
            <a:off x="3935226" y="1102658"/>
            <a:ext cx="8185056" cy="5369261"/>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01091829-8AB3-2637-9F62-CAD08B8462C7}"/>
              </a:ext>
            </a:extLst>
          </p:cNvPr>
          <p:cNvPicPr>
            <a:picLocks noChangeAspect="1"/>
          </p:cNvPicPr>
          <p:nvPr/>
        </p:nvPicPr>
        <p:blipFill>
          <a:blip r:embed="rId3"/>
          <a:stretch>
            <a:fillRect/>
          </a:stretch>
        </p:blipFill>
        <p:spPr>
          <a:xfrm>
            <a:off x="474031" y="1134909"/>
            <a:ext cx="4931687" cy="5352502"/>
          </a:xfrm>
          <a:prstGeom prst="rect">
            <a:avLst/>
          </a:prstGeom>
        </p:spPr>
      </p:pic>
      <p:pic>
        <p:nvPicPr>
          <p:cNvPr id="9" name="Picture 8">
            <a:extLst>
              <a:ext uri="{FF2B5EF4-FFF2-40B4-BE49-F238E27FC236}">
                <a16:creationId xmlns:a16="http://schemas.microsoft.com/office/drawing/2014/main" id="{E07AD196-3FDD-6647-871B-374321D46FA6}"/>
              </a:ext>
            </a:extLst>
          </p:cNvPr>
          <p:cNvPicPr>
            <a:picLocks noChangeAspect="1"/>
          </p:cNvPicPr>
          <p:nvPr/>
        </p:nvPicPr>
        <p:blipFill>
          <a:blip r:embed="rId4"/>
          <a:stretch>
            <a:fillRect/>
          </a:stretch>
        </p:blipFill>
        <p:spPr>
          <a:xfrm>
            <a:off x="5808031" y="1134909"/>
            <a:ext cx="4663844" cy="5433531"/>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AE977B54-C942-B3F7-2EFF-D7683557DA07}"/>
              </a:ext>
            </a:extLst>
          </p:cNvPr>
          <p:cNvPicPr>
            <a:picLocks noChangeAspect="1"/>
          </p:cNvPicPr>
          <p:nvPr/>
        </p:nvPicPr>
        <p:blipFill>
          <a:blip r:embed="rId3"/>
          <a:stretch>
            <a:fillRect/>
          </a:stretch>
        </p:blipFill>
        <p:spPr>
          <a:xfrm>
            <a:off x="158226" y="1078147"/>
            <a:ext cx="5321712" cy="5044877"/>
          </a:xfrm>
          <a:prstGeom prst="rect">
            <a:avLst/>
          </a:prstGeom>
        </p:spPr>
      </p:pic>
      <p:pic>
        <p:nvPicPr>
          <p:cNvPr id="9" name="Picture 8">
            <a:extLst>
              <a:ext uri="{FF2B5EF4-FFF2-40B4-BE49-F238E27FC236}">
                <a16:creationId xmlns:a16="http://schemas.microsoft.com/office/drawing/2014/main" id="{157A64DA-F054-1BFE-4294-8B21CB870A2A}"/>
              </a:ext>
            </a:extLst>
          </p:cNvPr>
          <p:cNvPicPr>
            <a:picLocks noChangeAspect="1"/>
          </p:cNvPicPr>
          <p:nvPr/>
        </p:nvPicPr>
        <p:blipFill>
          <a:blip r:embed="rId4"/>
          <a:stretch>
            <a:fillRect/>
          </a:stretch>
        </p:blipFill>
        <p:spPr>
          <a:xfrm>
            <a:off x="5966120" y="1078147"/>
            <a:ext cx="4762913" cy="5044877"/>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B3AF0078-1335-47E5-8BBA-BCA75D7FE95D}"/>
              </a:ext>
            </a:extLst>
          </p:cNvPr>
          <p:cNvPicPr>
            <a:picLocks noChangeAspect="1"/>
          </p:cNvPicPr>
          <p:nvPr/>
        </p:nvPicPr>
        <p:blipFill>
          <a:blip r:embed="rId3"/>
          <a:stretch>
            <a:fillRect/>
          </a:stretch>
        </p:blipFill>
        <p:spPr>
          <a:xfrm>
            <a:off x="421113" y="1408988"/>
            <a:ext cx="3998488" cy="4585412"/>
          </a:xfrm>
          <a:prstGeom prst="rect">
            <a:avLst/>
          </a:prstGeom>
        </p:spPr>
      </p:pic>
      <p:pic>
        <p:nvPicPr>
          <p:cNvPr id="9" name="Picture 8">
            <a:extLst>
              <a:ext uri="{FF2B5EF4-FFF2-40B4-BE49-F238E27FC236}">
                <a16:creationId xmlns:a16="http://schemas.microsoft.com/office/drawing/2014/main" id="{91104FA9-4038-36EF-5D5F-72E3E5C1BDD9}"/>
              </a:ext>
            </a:extLst>
          </p:cNvPr>
          <p:cNvPicPr>
            <a:picLocks noChangeAspect="1"/>
          </p:cNvPicPr>
          <p:nvPr/>
        </p:nvPicPr>
        <p:blipFill>
          <a:blip r:embed="rId4"/>
          <a:stretch>
            <a:fillRect/>
          </a:stretch>
        </p:blipFill>
        <p:spPr>
          <a:xfrm>
            <a:off x="4016188" y="1449970"/>
            <a:ext cx="8071767" cy="4678047"/>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7619369" cy="3557886"/>
          </a:xfrm>
          <a:prstGeom prst="rect">
            <a:avLst/>
          </a:prstGeom>
        </p:spPr>
        <p:txBody>
          <a:bodyPr vert="horz" lIns="91440" tIns="45720" rIns="91440" bIns="45720" rtlCol="0">
            <a:no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indent="-342900" algn="l" latinLnBrk="1">
              <a:buFont typeface="+mj-lt"/>
              <a:buAutoNum type="alphaUcPeriod"/>
            </a:pPr>
            <a:r>
              <a:rPr lang="en-IN" sz="1800" dirty="0">
                <a:latin typeface="Times New Roman" panose="02020603050405020304" pitchFamily="18" charset="0"/>
                <a:cs typeface="Times New Roman" panose="02020603050405020304" pitchFamily="18" charset="0"/>
              </a:rPr>
              <a:t>AI-Powered Crop Recommendation System</a:t>
            </a:r>
          </a:p>
          <a:p>
            <a:pPr marL="342900" indent="-342900" algn="l" latinLnBrk="1">
              <a:buFont typeface="+mj-lt"/>
              <a:buAutoNum type="alphaUcPeriod"/>
            </a:pPr>
            <a:r>
              <a:rPr lang="en-IN" sz="1800" dirty="0">
                <a:latin typeface="Times New Roman" panose="02020603050405020304" pitchFamily="18" charset="0"/>
                <a:cs typeface="Times New Roman" panose="02020603050405020304" pitchFamily="18" charset="0"/>
              </a:rPr>
              <a:t> IoT Sensors for Real-Time Farm Monitoring</a:t>
            </a:r>
          </a:p>
          <a:p>
            <a:pPr marL="342900" indent="-342900" algn="l" latinLnBrk="1">
              <a:buFont typeface="+mj-lt"/>
              <a:buAutoNum type="alphaUcPeriod"/>
            </a:pPr>
            <a:r>
              <a:rPr lang="en-IN" sz="1800" dirty="0">
                <a:latin typeface="Times New Roman" panose="02020603050405020304" pitchFamily="18" charset="0"/>
                <a:cs typeface="Times New Roman" panose="02020603050405020304" pitchFamily="18" charset="0"/>
              </a:rPr>
              <a:t> Smart Irrigation &amp; Precision Farming</a:t>
            </a:r>
          </a:p>
          <a:p>
            <a:pPr marL="342900" indent="-342900" algn="l" latinLnBrk="1">
              <a:buFont typeface="+mj-lt"/>
              <a:buAutoNum type="alphaUcPeriod"/>
            </a:pPr>
            <a:r>
              <a:rPr lang="en-IN" sz="1800" dirty="0">
                <a:latin typeface="Times New Roman" panose="02020603050405020304" pitchFamily="18" charset="0"/>
                <a:cs typeface="Times New Roman" panose="02020603050405020304" pitchFamily="18" charset="0"/>
              </a:rPr>
              <a:t> Mobile App for Farmers (Crop Advisor + Market Info)</a:t>
            </a:r>
          </a:p>
          <a:p>
            <a:pPr marL="342900" indent="-342900" algn="l" latinLnBrk="1">
              <a:buFont typeface="+mj-lt"/>
              <a:buAutoNum type="alphaUcPeriod"/>
            </a:pPr>
            <a:r>
              <a:rPr lang="en-IN" sz="1800" dirty="0">
                <a:latin typeface="Times New Roman" panose="02020603050405020304" pitchFamily="18" charset="0"/>
                <a:cs typeface="Times New Roman" panose="02020603050405020304" pitchFamily="18" charset="0"/>
              </a:rPr>
              <a:t> Climate Change Impact Assessment</a:t>
            </a:r>
          </a:p>
          <a:p>
            <a:pPr marL="342900" indent="-342900" algn="l" latinLnBrk="1">
              <a:buFont typeface="+mj-lt"/>
              <a:buAutoNum type="alphaUcPeriod"/>
            </a:pPr>
            <a:r>
              <a:rPr lang="en-IN" sz="1800" dirty="0">
                <a:latin typeface="Times New Roman" panose="02020603050405020304" pitchFamily="18" charset="0"/>
                <a:cs typeface="Times New Roman" panose="02020603050405020304" pitchFamily="18" charset="0"/>
              </a:rPr>
              <a:t> Supply Chain &amp; Price Forecasting</a:t>
            </a:r>
          </a:p>
          <a:p>
            <a:pPr marL="342900" indent="-342900" algn="l" latinLnBrk="1">
              <a:buFont typeface="+mj-lt"/>
              <a:buAutoNum type="alphaUcPeriod"/>
            </a:pPr>
            <a:r>
              <a:rPr lang="en-IN" sz="1800" dirty="0">
                <a:latin typeface="Times New Roman" panose="02020603050405020304" pitchFamily="18" charset="0"/>
                <a:cs typeface="Times New Roman" panose="02020603050405020304" pitchFamily="18" charset="0"/>
              </a:rPr>
              <a:t> Data-Driven Agricultural Policy Support</a:t>
            </a:r>
          </a:p>
          <a:p>
            <a:pPr marL="342900" indent="-342900" algn="l" latinLnBrk="1">
              <a:buFont typeface="+mj-lt"/>
              <a:buAutoNum type="alphaUcPeriod"/>
            </a:pPr>
            <a:r>
              <a:rPr lang="en-IN" sz="1800" dirty="0">
                <a:latin typeface="Times New Roman" panose="02020603050405020304" pitchFamily="18" charset="0"/>
                <a:cs typeface="Times New Roman" panose="02020603050405020304" pitchFamily="18" charset="0"/>
              </a:rPr>
              <a:t> Farmers' Knowledge Sharing Platform</a:t>
            </a:r>
          </a:p>
          <a:p>
            <a:pPr marL="342900" indent="-342900" algn="l" latinLnBrk="1">
              <a:buFont typeface="+mj-lt"/>
              <a:buAutoNum type="alphaUcPeriod"/>
            </a:pPr>
            <a:r>
              <a:rPr lang="en-IN" sz="1800" dirty="0">
                <a:latin typeface="Times New Roman" panose="02020603050405020304" pitchFamily="18" charset="0"/>
                <a:cs typeface="Times New Roman" panose="02020603050405020304" pitchFamily="18" charset="0"/>
              </a:rPr>
              <a:t> Disaster Risk Management (Drought, Flood)</a:t>
            </a:r>
          </a:p>
          <a:p>
            <a:pPr marL="342900" indent="-342900" algn="l" latinLnBrk="1">
              <a:buFont typeface="+mj-lt"/>
              <a:buAutoNum type="alphaUcPeriod"/>
            </a:pPr>
            <a:r>
              <a:rPr lang="en-IN" sz="1800" dirty="0">
                <a:latin typeface="Times New Roman" panose="02020603050405020304" pitchFamily="18" charset="0"/>
                <a:cs typeface="Times New Roman" panose="02020603050405020304" pitchFamily="18" charset="0"/>
              </a:rPr>
              <a:t> Export Market Analysis &amp; Global Opportunities</a:t>
            </a:r>
          </a:p>
          <a:p>
            <a:pPr marL="342900" indent="-342900" algn="l" latinLnBrk="1">
              <a:buFont typeface="+mj-lt"/>
              <a:buAutoNum type="alphaUcPeriod"/>
            </a:pPr>
            <a:r>
              <a:rPr lang="en-IN" sz="1800" dirty="0">
                <a:latin typeface="Times New Roman" panose="02020603050405020304" pitchFamily="18" charset="0"/>
                <a:cs typeface="Times New Roman" panose="02020603050405020304" pitchFamily="18" charset="0"/>
              </a:rPr>
              <a:t> Automated Pest &amp; Disease Detection using AI</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369332"/>
          </a:xfrm>
          <a:prstGeom prst="rect">
            <a:avLst/>
          </a:prstGeom>
          <a:noFill/>
        </p:spPr>
        <p:txBody>
          <a:bodyPr wrap="square">
            <a:spAutoFit/>
          </a:bodyPr>
          <a:lstStyle/>
          <a:p>
            <a:r>
              <a:rPr lang="en-US" dirty="0" err="1">
                <a:hlinkClick r:id="rId3"/>
              </a:rPr>
              <a:t>Seasonal_agriculture_analysis</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BBBB685C-4CFC-23AD-1A7F-A9BBAF9CDDBF}"/>
              </a:ext>
            </a:extLst>
          </p:cNvPr>
          <p:cNvPicPr>
            <a:picLocks noChangeAspect="1"/>
          </p:cNvPicPr>
          <p:nvPr/>
        </p:nvPicPr>
        <p:blipFill>
          <a:blip r:embed="rId3"/>
          <a:stretch>
            <a:fillRect/>
          </a:stretch>
        </p:blipFill>
        <p:spPr>
          <a:xfrm>
            <a:off x="842682" y="1434352"/>
            <a:ext cx="10004612" cy="5230607"/>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577788" y="1299882"/>
            <a:ext cx="8606118" cy="4069976"/>
          </a:xfrm>
          <a:prstGeom prst="rect">
            <a:avLst/>
          </a:prstGeom>
        </p:spPr>
        <p:txBody>
          <a:bodyPr anchor="ctr">
            <a:normAutofit/>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1415</TotalTime>
  <Words>357</Words>
  <Application>Microsoft Office PowerPoint</Application>
  <PresentationFormat>Widescreen</PresentationFormat>
  <Paragraphs>47</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Times New Roman</vt:lpstr>
      <vt:lpstr>Trebuchet MS</vt:lpstr>
      <vt:lpstr>Wingdings</vt:lpstr>
      <vt:lpstr>Wingdings 3</vt:lpstr>
      <vt:lpstr>Facet</vt:lpstr>
      <vt:lpstr>Seasonal Agricultural Performance Analysis</vt:lpstr>
      <vt:lpstr>PROBLEM  STATEMENT</vt:lpstr>
      <vt:lpstr>Project Description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Shoba Rwt</cp:lastModifiedBy>
  <cp:revision>105</cp:revision>
  <dcterms:created xsi:type="dcterms:W3CDTF">2021-07-11T13:13:15Z</dcterms:created>
  <dcterms:modified xsi:type="dcterms:W3CDTF">2026-09-10T01:54:32Z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